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ackup" id="{62535C23-7A6F-EE2E-95EC-DB07205B8656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5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lang="en-GB" sz="1100" b="0" i="0" u="none" strike="noStrike">
                <a:solidFill>
                  <a:srgbClr val="000000"/>
                </a:solidFill>
                <a:latin typeface="Calibri"/>
              </a:rPr>
              <a:t>Relevant capabilities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2B2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075-5D4F-83DE-C300C927B560}"/>
              </c:ext>
            </c:extLst>
          </c:dPt>
          <c:dPt>
            <c:idx val="1"/>
            <c:bubble3D val="0"/>
            <c:spPr>
              <a:solidFill>
                <a:srgbClr val="F7A7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075-5D4F-83DE-C300C927B560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AT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075-5D4F-83DE-C300C927B560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AT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075-5D4F-83DE-C300C927B560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AT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GA</c:v>
                </c:pt>
                <c:pt idx="1">
                  <c:v>TP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075-5D4F-83DE-C300C927B5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7575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9831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 · OPENING
STORY: How every application gets one governed way to our models.
WORDS: regulated environment · social insurance · on-prem · nothing leaves the house · Models-as-a-Service
BRIDGE → "First: how we got here."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1:30 · OUR PATH · 4 clicks
STORY: We planned a bridge – and then decided we don't need one.
START (title only): "How did we get here?"
CLICK 1 – evaluate:
- LiteLLM · Bifrost · Portkey · Envoy AI Gateway · OpenShift AI MaaS
- criteria: cost allocation per customer and application · audit logging · SSO/RBAC · on-prem
CLICK 2 – plan:
- LiteLLM as entry point in phase 1 – fast start · MaaS later
CLICK 3 – rethink: what does the bridge cost?
- enterprise license for a temporary solution
- migrate every consumer later – new base URL, new keys
- double governance while both run in parallel
- gain: only a few weeks
CLICK 4 – decide (+ punchline):
- OpenShift AI only, MaaS from day one · fully supported · GitOps
- if asked (not on slide) – trade-off: no model-to-model fallback, no alias layer → served-model-name convention, retry in the app
BRIDGE → "So what does that look like?"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2:00 · ARCHITECTURE · 5 clicks
STORY: One front door for every model call.
START (consumers only): who calls models? business apps · chat UI · developer tools · agents
CLICK 1 – gateway:
- single entry point · front door
- identity, not shared keys · service account · IdP groups
- subscription per customer or application · token quota · rate limit
CLICK 2 – serving:
- llm-d: KV-cache-aware routing, in front of vLLM
- network policy: models only reachable via the gateway – no way around it
CLICK 3 – guardrails:
- NeMo Guardrails · harmful content · jailbreak · PII
- FMS orchestrator is being deprecated → NeMo from day one
CLICK 4 – MCP:
- dashed = tool calls · MCP gateway: federation · tool filtering by identity · token exchange
- still Tech Preview → isolated namespace, test data
CLICK 5 – traceability:
- dotted = OTel spans · app-side logging for now, via OTel Collector → MLflow
- later only the source changes · Prometheus: usage per customer / app
BRIDGE → "Sounds simple. The catch is maturity."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1:30 · MATURITY
STORY: Production runs on GA – Tech Preview stays the exception, with a plan.
WORDS:
- seven of nine building blocks are GA – that's the production path
- MaaS · llm-d · vLLM · NeMo · cluster IdP · Prometheus · GitOps – all supported
- vLLM itself: GA · vLLM in MaaS without llm-d: Tech Preview → llm-d is our default path
- two TP examples, two patterns:
  · external OIDC → workaround: cluster IdP and groups, until GA
  · MCP gateway → sandbox only, no production data
- workaround · expiry date · GA date drives the roadmap, not the calendar
BRIDGE → "And what comes after phase 1?"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1:30 · ROADMAP
STORY: Phase 1 is deliberately narrow – phase 2 starts when Red Hat commits GA dates.
WORDS:
- phase 1: internal models only · GA only · GitOps · guardrails · OTel logging · MCP sandbox
- exit criteria: two apps live · usage per customer / app · no TP in production
- phase 2 trigger: committed Red Hat GA dates
- phase 2: external providers with PII masking · MCP gateway in production · external OIDC + showback · classical ML (e.g. LAYA) via KServe / Open Inference Protocol v2 · logging moves to the gateway
BRIDGE → "Let me pull this together."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 · TAKEAWAYS
WORDS: skip the bridge · one front door · GA first
→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· MERMAID VIEW
WORDS: same picture, more detail · point at the three line types · IdP groups → Kuadrant · metrics → Prometheus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92B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AICOE · ITSV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7373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front door for AI models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Models-as-a-Service on OpenShift AI 3.4.3 – our path, architecture and roadmap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3246120"/>
            <a:ext cx="1097280" cy="0"/>
          </a:xfrm>
          <a:prstGeom prst="line">
            <a:avLst/>
          </a:prstGeom>
          <a:noFill/>
          <a:ln w="38100">
            <a:solidFill>
              <a:srgbClr val="92B216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6" name="Text 4"/>
          <p:cNvSpPr txBox="1"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Alexander Zeiss · Head of AI Center of Excellence, ITSV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2B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DECISION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path to MaaS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698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tool evaluation to OpenShift AI only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097280" cy="0"/>
          </a:xfrm>
          <a:prstGeom prst="line">
            <a:avLst/>
          </a:prstGeom>
          <a:noFill/>
          <a:ln w="38100">
            <a:solidFill>
              <a:srgbClr val="92B216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6" name="Shape 4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7" name="Text 5"/>
          <p:cNvSpPr txBox="1"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path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48234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900" dirty="0"/>
          </a:p>
        </p:txBody>
      </p:sp>
      <p:sp>
        <p:nvSpPr>
          <p:cNvPr id="9" name="STG1_1"/>
          <p:cNvSpPr/>
          <p:nvPr/>
        </p:nvSpPr>
        <p:spPr>
          <a:xfrm>
            <a:off x="457200" y="1645920"/>
            <a:ext cx="19202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0" name="STG1_2"/>
          <p:cNvSpPr/>
          <p:nvPr/>
        </p:nvSpPr>
        <p:spPr>
          <a:xfrm>
            <a:off x="457200" y="1645920"/>
            <a:ext cx="64008" cy="2514600"/>
          </a:xfrm>
          <a:prstGeom prst="rect">
            <a:avLst/>
          </a:prstGeom>
          <a:solidFill>
            <a:srgbClr val="ABABAB"/>
          </a:solidFill>
          <a:ln w="12700">
            <a:solidFill>
              <a:srgbClr val="ABABAB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1" name="STG1_3"/>
          <p:cNvSpPr/>
          <p:nvPr/>
        </p:nvSpPr>
        <p:spPr>
          <a:xfrm>
            <a:off x="621792" y="1783080"/>
            <a:ext cx="274320" cy="274320"/>
          </a:xfrm>
          <a:prstGeom prst="ellipse">
            <a:avLst/>
          </a:prstGeom>
          <a:solidFill>
            <a:srgbClr val="6A9519"/>
          </a:solidFill>
          <a:ln w="12700">
            <a:solidFill>
              <a:srgbClr val="6A9519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2" name="STG1_4"/>
          <p:cNvSpPr txBox="1"/>
          <p:nvPr/>
        </p:nvSpPr>
        <p:spPr>
          <a:xfrm>
            <a:off x="621792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STG1_5"/>
          <p:cNvSpPr txBox="1"/>
          <p:nvPr/>
        </p:nvSpPr>
        <p:spPr>
          <a:xfrm>
            <a:off x="987552" y="17830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4" name="STG1_6"/>
          <p:cNvSpPr txBox="1"/>
          <p:nvPr/>
        </p:nvSpPr>
        <p:spPr>
          <a:xfrm>
            <a:off x="621792" y="2176272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0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LiteLLM, Bifrost, Portkey, Envoy AI Gateway, OpenShift AI MaaS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0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criteria: cost per customer / app, audit logging, SSO/RBAC, on-prem</a:t>
            </a:r>
            <a:endParaRPr lang="en-US" sz="900" dirty="0"/>
          </a:p>
        </p:txBody>
      </p:sp>
      <p:sp>
        <p:nvSpPr>
          <p:cNvPr id="15" name="STG2_7"/>
          <p:cNvSpPr/>
          <p:nvPr/>
        </p:nvSpPr>
        <p:spPr>
          <a:xfrm>
            <a:off x="2377440" y="2898648"/>
            <a:ext cx="182880" cy="0"/>
          </a:xfrm>
          <a:prstGeom prst="line">
            <a:avLst/>
          </a:prstGeom>
          <a:noFill/>
          <a:ln w="19050">
            <a:solidFill>
              <a:srgbClr val="6A9519"/>
            </a:solidFill>
            <a:prstDash val="solid"/>
            <a:tailEnd type="triangle"/>
          </a:ln>
        </p:spPr>
        <p:txBody>
          <a:bodyPr/>
          <a:lstStyle/>
          <a:p>
            <a:endParaRPr lang="en-AT"/>
          </a:p>
        </p:txBody>
      </p:sp>
      <p:sp>
        <p:nvSpPr>
          <p:cNvPr id="16" name="STG2_8"/>
          <p:cNvSpPr/>
          <p:nvPr/>
        </p:nvSpPr>
        <p:spPr>
          <a:xfrm>
            <a:off x="2560320" y="1645920"/>
            <a:ext cx="19202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7" name="STG2_9"/>
          <p:cNvSpPr/>
          <p:nvPr/>
        </p:nvSpPr>
        <p:spPr>
          <a:xfrm>
            <a:off x="2560320" y="1645920"/>
            <a:ext cx="64008" cy="2514600"/>
          </a:xfrm>
          <a:prstGeom prst="rect">
            <a:avLst/>
          </a:prstGeom>
          <a:solidFill>
            <a:srgbClr val="ABABAB"/>
          </a:solidFill>
          <a:ln w="12700">
            <a:solidFill>
              <a:srgbClr val="ABABAB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8" name="STG2_10"/>
          <p:cNvSpPr/>
          <p:nvPr/>
        </p:nvSpPr>
        <p:spPr>
          <a:xfrm>
            <a:off x="2724912" y="1783080"/>
            <a:ext cx="274320" cy="274320"/>
          </a:xfrm>
          <a:prstGeom prst="ellipse">
            <a:avLst/>
          </a:prstGeom>
          <a:solidFill>
            <a:srgbClr val="6A9519"/>
          </a:solidFill>
          <a:ln w="12700">
            <a:solidFill>
              <a:srgbClr val="6A9519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9" name="STG2_11"/>
          <p:cNvSpPr txBox="1"/>
          <p:nvPr/>
        </p:nvSpPr>
        <p:spPr>
          <a:xfrm>
            <a:off x="2724912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STG2_12"/>
          <p:cNvSpPr txBox="1"/>
          <p:nvPr/>
        </p:nvSpPr>
        <p:spPr>
          <a:xfrm>
            <a:off x="3090672" y="17830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</p:txBody>
      </p:sp>
      <p:sp>
        <p:nvSpPr>
          <p:cNvPr id="21" name="STG2_13"/>
          <p:cNvSpPr txBox="1"/>
          <p:nvPr/>
        </p:nvSpPr>
        <p:spPr>
          <a:xfrm>
            <a:off x="2724912" y="2176272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0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with LiteLLM as entry point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0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start: keys, budgets, routing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0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MaaS to follow later</a:t>
            </a:r>
            <a:endParaRPr lang="en-US" sz="900" dirty="0"/>
          </a:p>
        </p:txBody>
      </p:sp>
      <p:sp>
        <p:nvSpPr>
          <p:cNvPr id="22" name="STG3_14"/>
          <p:cNvSpPr/>
          <p:nvPr/>
        </p:nvSpPr>
        <p:spPr>
          <a:xfrm>
            <a:off x="4480560" y="2898648"/>
            <a:ext cx="182880" cy="0"/>
          </a:xfrm>
          <a:prstGeom prst="line">
            <a:avLst/>
          </a:prstGeom>
          <a:noFill/>
          <a:ln w="19050">
            <a:solidFill>
              <a:srgbClr val="6A9519"/>
            </a:solidFill>
            <a:prstDash val="solid"/>
            <a:tailEnd type="triangle"/>
          </a:ln>
        </p:spPr>
        <p:txBody>
          <a:bodyPr/>
          <a:lstStyle/>
          <a:p>
            <a:endParaRPr lang="en-AT"/>
          </a:p>
        </p:txBody>
      </p:sp>
      <p:sp>
        <p:nvSpPr>
          <p:cNvPr id="23" name="STG3_15"/>
          <p:cNvSpPr/>
          <p:nvPr/>
        </p:nvSpPr>
        <p:spPr>
          <a:xfrm>
            <a:off x="4663440" y="1645920"/>
            <a:ext cx="19202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4" name="STG3_16"/>
          <p:cNvSpPr/>
          <p:nvPr/>
        </p:nvSpPr>
        <p:spPr>
          <a:xfrm>
            <a:off x="4663440" y="1645920"/>
            <a:ext cx="64008" cy="2514600"/>
          </a:xfrm>
          <a:prstGeom prst="rect">
            <a:avLst/>
          </a:prstGeom>
          <a:solidFill>
            <a:srgbClr val="F7A70B"/>
          </a:solidFill>
          <a:ln w="12700">
            <a:solidFill>
              <a:srgbClr val="F7A70B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5" name="STG3_17"/>
          <p:cNvSpPr/>
          <p:nvPr/>
        </p:nvSpPr>
        <p:spPr>
          <a:xfrm>
            <a:off x="4828032" y="1783080"/>
            <a:ext cx="274320" cy="274320"/>
          </a:xfrm>
          <a:prstGeom prst="ellipse">
            <a:avLst/>
          </a:prstGeom>
          <a:solidFill>
            <a:srgbClr val="F7A70B"/>
          </a:solidFill>
          <a:ln w="12700">
            <a:solidFill>
              <a:srgbClr val="F7A70B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6" name="STG3_18"/>
          <p:cNvSpPr txBox="1"/>
          <p:nvPr/>
        </p:nvSpPr>
        <p:spPr>
          <a:xfrm>
            <a:off x="4828032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STG3_19"/>
          <p:cNvSpPr txBox="1"/>
          <p:nvPr/>
        </p:nvSpPr>
        <p:spPr>
          <a:xfrm>
            <a:off x="5193792" y="17830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Rethink</a:t>
            </a:r>
            <a:endParaRPr lang="en-US" sz="1200" dirty="0"/>
          </a:p>
        </p:txBody>
      </p:sp>
      <p:sp>
        <p:nvSpPr>
          <p:cNvPr id="28" name="STG3_20"/>
          <p:cNvSpPr txBox="1"/>
          <p:nvPr/>
        </p:nvSpPr>
        <p:spPr>
          <a:xfrm>
            <a:off x="4828032" y="2176272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0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bridge costs an enterprise license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0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migration of every consumer – new base URL, new keys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0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governance while both run in parallel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0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gain: only a few weeks</a:t>
            </a:r>
            <a:endParaRPr lang="en-US" sz="900" dirty="0"/>
          </a:p>
        </p:txBody>
      </p:sp>
      <p:sp>
        <p:nvSpPr>
          <p:cNvPr id="29" name="STG4_21"/>
          <p:cNvSpPr/>
          <p:nvPr/>
        </p:nvSpPr>
        <p:spPr>
          <a:xfrm>
            <a:off x="6583680" y="2898648"/>
            <a:ext cx="182880" cy="0"/>
          </a:xfrm>
          <a:prstGeom prst="line">
            <a:avLst/>
          </a:prstGeom>
          <a:noFill/>
          <a:ln w="19050">
            <a:solidFill>
              <a:srgbClr val="6A9519"/>
            </a:solidFill>
            <a:prstDash val="solid"/>
            <a:tailEnd type="triangle"/>
          </a:ln>
        </p:spPr>
        <p:txBody>
          <a:bodyPr/>
          <a:lstStyle/>
          <a:p>
            <a:endParaRPr lang="en-AT"/>
          </a:p>
        </p:txBody>
      </p:sp>
      <p:sp>
        <p:nvSpPr>
          <p:cNvPr id="30" name="STG4_22"/>
          <p:cNvSpPr/>
          <p:nvPr/>
        </p:nvSpPr>
        <p:spPr>
          <a:xfrm>
            <a:off x="6766560" y="1645920"/>
            <a:ext cx="1920240" cy="2514600"/>
          </a:xfrm>
          <a:prstGeom prst="rect">
            <a:avLst/>
          </a:prstGeom>
          <a:solidFill>
            <a:srgbClr val="E9F0CD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31" name="STG4_23"/>
          <p:cNvSpPr/>
          <p:nvPr/>
        </p:nvSpPr>
        <p:spPr>
          <a:xfrm>
            <a:off x="6766560" y="1645920"/>
            <a:ext cx="64008" cy="2514600"/>
          </a:xfrm>
          <a:prstGeom prst="rect">
            <a:avLst/>
          </a:prstGeom>
          <a:solidFill>
            <a:srgbClr val="92B216"/>
          </a:solidFill>
          <a:ln w="12700">
            <a:solidFill>
              <a:srgbClr val="92B216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32" name="STG4_24"/>
          <p:cNvSpPr/>
          <p:nvPr/>
        </p:nvSpPr>
        <p:spPr>
          <a:xfrm>
            <a:off x="6931152" y="1783080"/>
            <a:ext cx="274320" cy="274320"/>
          </a:xfrm>
          <a:prstGeom prst="ellipse">
            <a:avLst/>
          </a:prstGeom>
          <a:solidFill>
            <a:srgbClr val="92B216"/>
          </a:solidFill>
          <a:ln w="12700">
            <a:solidFill>
              <a:srgbClr val="92B216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33" name="STG4_25"/>
          <p:cNvSpPr txBox="1"/>
          <p:nvPr/>
        </p:nvSpPr>
        <p:spPr>
          <a:xfrm>
            <a:off x="6931152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STG4_26"/>
          <p:cNvSpPr txBox="1"/>
          <p:nvPr/>
        </p:nvSpPr>
        <p:spPr>
          <a:xfrm>
            <a:off x="7296912" y="17830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200" dirty="0"/>
          </a:p>
        </p:txBody>
      </p:sp>
      <p:sp>
        <p:nvSpPr>
          <p:cNvPr id="35" name="STG4_27"/>
          <p:cNvSpPr txBox="1"/>
          <p:nvPr/>
        </p:nvSpPr>
        <p:spPr>
          <a:xfrm>
            <a:off x="6931152" y="2176272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0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AI only – MaaS from day one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0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supported by Red Hat, configured via GitOps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0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path, one set of rules for every consumer</a:t>
            </a:r>
            <a:endParaRPr lang="en-US" sz="900" dirty="0"/>
          </a:p>
        </p:txBody>
      </p:sp>
      <p:sp>
        <p:nvSpPr>
          <p:cNvPr id="36" name="STG4_28"/>
          <p:cNvSpPr/>
          <p:nvPr/>
        </p:nvSpPr>
        <p:spPr>
          <a:xfrm>
            <a:off x="457200" y="4315968"/>
            <a:ext cx="8229600" cy="365760"/>
          </a:xfrm>
          <a:prstGeom prst="roundRect">
            <a:avLst>
              <a:gd name="adj" fmla="val 10000"/>
            </a:avLst>
          </a:prstGeom>
          <a:solidFill>
            <a:srgbClr val="92B216"/>
          </a:solidFill>
          <a:ln w="12700">
            <a:solidFill>
              <a:srgbClr val="92B216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37" name="STG4_29"/>
          <p:cNvSpPr txBox="1"/>
          <p:nvPr/>
        </p:nvSpPr>
        <p:spPr>
          <a:xfrm>
            <a:off x="548640" y="43159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skipped the bridge: 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migration, no double governance, no license.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2B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MAAS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architecture: one gateway, all internal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698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AI 3.4.3 · solid: model calls · dashed: MCP tool calls · dotted: OTel spans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097280" cy="0"/>
          </a:xfrm>
          <a:prstGeom prst="line">
            <a:avLst/>
          </a:prstGeom>
          <a:noFill/>
          <a:ln w="38100">
            <a:solidFill>
              <a:srgbClr val="92B216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6" name="Shape 4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7" name="Text 5"/>
          <p:cNvSpPr txBox="1"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MaaS architecture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48234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6459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95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901952"/>
            <a:ext cx="1463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1" name="Shape 9"/>
          <p:cNvSpPr/>
          <p:nvPr/>
        </p:nvSpPr>
        <p:spPr>
          <a:xfrm>
            <a:off x="457200" y="1901952"/>
            <a:ext cx="64008" cy="438912"/>
          </a:xfrm>
          <a:prstGeom prst="rect">
            <a:avLst/>
          </a:prstGeom>
          <a:solidFill>
            <a:srgbClr val="ABABAB"/>
          </a:solidFill>
          <a:ln w="12700">
            <a:solidFill>
              <a:srgbClr val="ABABAB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2" name="Text 10"/>
          <p:cNvSpPr txBox="1"/>
          <p:nvPr/>
        </p:nvSpPr>
        <p:spPr>
          <a:xfrm>
            <a:off x="603504" y="1947672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apps</a:t>
            </a:r>
            <a:endParaRPr lang="en-US" sz="950" dirty="0"/>
          </a:p>
          <a:p>
            <a:pPr marL="0" indent="0">
              <a:buNone/>
            </a:pPr>
            <a:r>
              <a:rPr lang="en-US" sz="85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ServiceAccount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432304"/>
            <a:ext cx="1463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4" name="Shape 12"/>
          <p:cNvSpPr/>
          <p:nvPr/>
        </p:nvSpPr>
        <p:spPr>
          <a:xfrm>
            <a:off x="457200" y="2432304"/>
            <a:ext cx="64008" cy="438912"/>
          </a:xfrm>
          <a:prstGeom prst="rect">
            <a:avLst/>
          </a:prstGeom>
          <a:solidFill>
            <a:srgbClr val="ABABAB"/>
          </a:solidFill>
          <a:ln w="12700">
            <a:solidFill>
              <a:srgbClr val="ABABAB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5" name="Text 13"/>
          <p:cNvSpPr txBox="1"/>
          <p:nvPr/>
        </p:nvSpPr>
        <p:spPr>
          <a:xfrm>
            <a:off x="603504" y="2478024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</a:t>
            </a:r>
            <a:endParaRPr lang="en-US" sz="950" dirty="0"/>
          </a:p>
          <a:p>
            <a:pPr marL="0" indent="0">
              <a:buNone/>
            </a:pPr>
            <a:r>
              <a:rPr lang="en-US" sz="85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from the IdP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962656"/>
            <a:ext cx="1463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7" name="Shape 15"/>
          <p:cNvSpPr/>
          <p:nvPr/>
        </p:nvSpPr>
        <p:spPr>
          <a:xfrm>
            <a:off x="457200" y="2962656"/>
            <a:ext cx="64008" cy="438912"/>
          </a:xfrm>
          <a:prstGeom prst="rect">
            <a:avLst/>
          </a:prstGeom>
          <a:solidFill>
            <a:srgbClr val="ABABAB"/>
          </a:solidFill>
          <a:ln w="12700">
            <a:solidFill>
              <a:srgbClr val="ABABAB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8" name="Text 16"/>
          <p:cNvSpPr txBox="1"/>
          <p:nvPr/>
        </p:nvSpPr>
        <p:spPr>
          <a:xfrm>
            <a:off x="603504" y="3008376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tools</a:t>
            </a:r>
            <a:endParaRPr lang="en-US" sz="950" dirty="0"/>
          </a:p>
          <a:p>
            <a:pPr marL="0" indent="0">
              <a:buNone/>
            </a:pPr>
            <a:r>
              <a:rPr lang="en-US" sz="85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subscription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493008"/>
            <a:ext cx="1463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0" name="Shape 18"/>
          <p:cNvSpPr/>
          <p:nvPr/>
        </p:nvSpPr>
        <p:spPr>
          <a:xfrm>
            <a:off x="457200" y="3493008"/>
            <a:ext cx="64008" cy="438912"/>
          </a:xfrm>
          <a:prstGeom prst="rect">
            <a:avLst/>
          </a:prstGeom>
          <a:solidFill>
            <a:srgbClr val="F7A70B"/>
          </a:solidFill>
          <a:ln w="12700">
            <a:solidFill>
              <a:srgbClr val="F7A70B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1" name="Text 19"/>
          <p:cNvSpPr txBox="1"/>
          <p:nvPr/>
        </p:nvSpPr>
        <p:spPr>
          <a:xfrm>
            <a:off x="603504" y="3538728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950" dirty="0"/>
          </a:p>
          <a:p>
            <a:pPr marL="0" indent="0">
              <a:buNone/>
            </a:pPr>
            <a:r>
              <a:rPr lang="en-US" sz="85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clients</a:t>
            </a:r>
            <a:endParaRPr lang="en-US" sz="950" dirty="0"/>
          </a:p>
        </p:txBody>
      </p:sp>
      <p:sp>
        <p:nvSpPr>
          <p:cNvPr id="22" name="STG1_30"/>
          <p:cNvSpPr/>
          <p:nvPr/>
        </p:nvSpPr>
        <p:spPr>
          <a:xfrm>
            <a:off x="1920240" y="2066544"/>
            <a:ext cx="91440" cy="0"/>
          </a:xfrm>
          <a:prstGeom prst="line">
            <a:avLst/>
          </a:prstGeom>
          <a:noFill/>
          <a:ln w="15875">
            <a:solidFill>
              <a:srgbClr val="575757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3" name="STG1_31"/>
          <p:cNvSpPr/>
          <p:nvPr/>
        </p:nvSpPr>
        <p:spPr>
          <a:xfrm>
            <a:off x="1920240" y="2596896"/>
            <a:ext cx="91440" cy="0"/>
          </a:xfrm>
          <a:prstGeom prst="line">
            <a:avLst/>
          </a:prstGeom>
          <a:noFill/>
          <a:ln w="15875">
            <a:solidFill>
              <a:srgbClr val="575757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4" name="STG1_32"/>
          <p:cNvSpPr/>
          <p:nvPr/>
        </p:nvSpPr>
        <p:spPr>
          <a:xfrm>
            <a:off x="1920240" y="3127248"/>
            <a:ext cx="91440" cy="0"/>
          </a:xfrm>
          <a:prstGeom prst="line">
            <a:avLst/>
          </a:prstGeom>
          <a:noFill/>
          <a:ln w="15875">
            <a:solidFill>
              <a:srgbClr val="575757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5" name="STG1_33"/>
          <p:cNvSpPr/>
          <p:nvPr/>
        </p:nvSpPr>
        <p:spPr>
          <a:xfrm>
            <a:off x="1920240" y="3657600"/>
            <a:ext cx="91440" cy="0"/>
          </a:xfrm>
          <a:prstGeom prst="line">
            <a:avLst/>
          </a:prstGeom>
          <a:noFill/>
          <a:ln w="15875">
            <a:solidFill>
              <a:srgbClr val="575757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6" name="STG1_34"/>
          <p:cNvSpPr/>
          <p:nvPr/>
        </p:nvSpPr>
        <p:spPr>
          <a:xfrm>
            <a:off x="2011680" y="2066544"/>
            <a:ext cx="0" cy="1591056"/>
          </a:xfrm>
          <a:prstGeom prst="line">
            <a:avLst/>
          </a:prstGeom>
          <a:noFill/>
          <a:ln w="15875">
            <a:solidFill>
              <a:srgbClr val="575757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7" name="STG1_35"/>
          <p:cNvSpPr/>
          <p:nvPr/>
        </p:nvSpPr>
        <p:spPr>
          <a:xfrm>
            <a:off x="2011680" y="2596896"/>
            <a:ext cx="182880" cy="0"/>
          </a:xfrm>
          <a:prstGeom prst="line">
            <a:avLst/>
          </a:prstGeom>
          <a:noFill/>
          <a:ln w="22225">
            <a:solidFill>
              <a:srgbClr val="575757"/>
            </a:solidFill>
            <a:prstDash val="solid"/>
            <a:tailEnd type="triangle"/>
          </a:ln>
        </p:spPr>
        <p:txBody>
          <a:bodyPr/>
          <a:lstStyle/>
          <a:p>
            <a:endParaRPr lang="en-AT"/>
          </a:p>
        </p:txBody>
      </p:sp>
      <p:sp>
        <p:nvSpPr>
          <p:cNvPr id="28" name="STG1_36"/>
          <p:cNvSpPr/>
          <p:nvPr/>
        </p:nvSpPr>
        <p:spPr>
          <a:xfrm>
            <a:off x="2194560" y="1645920"/>
            <a:ext cx="2514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2B216"/>
            </a:solidFill>
            <a:prstDash val="dash"/>
          </a:ln>
        </p:spPr>
        <p:txBody>
          <a:bodyPr/>
          <a:lstStyle/>
          <a:p>
            <a:endParaRPr lang="en-AT"/>
          </a:p>
        </p:txBody>
      </p:sp>
      <p:sp>
        <p:nvSpPr>
          <p:cNvPr id="29" name="STG1_37"/>
          <p:cNvSpPr txBox="1"/>
          <p:nvPr/>
        </p:nvSpPr>
        <p:spPr>
          <a:xfrm>
            <a:off x="2286000" y="168249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95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MaaS gateway</a:t>
            </a:r>
            <a:endParaRPr lang="en-US" sz="900" dirty="0"/>
          </a:p>
        </p:txBody>
      </p:sp>
      <p:sp>
        <p:nvSpPr>
          <p:cNvPr id="30" name="STG1_38"/>
          <p:cNvSpPr/>
          <p:nvPr/>
        </p:nvSpPr>
        <p:spPr>
          <a:xfrm>
            <a:off x="2304288" y="1901952"/>
            <a:ext cx="2286000" cy="457200"/>
          </a:xfrm>
          <a:prstGeom prst="rect">
            <a:avLst/>
          </a:prstGeom>
          <a:solidFill>
            <a:srgbClr val="E9F0CD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31" name="STG1_39"/>
          <p:cNvSpPr/>
          <p:nvPr/>
        </p:nvSpPr>
        <p:spPr>
          <a:xfrm>
            <a:off x="2304288" y="1901952"/>
            <a:ext cx="64008" cy="457200"/>
          </a:xfrm>
          <a:prstGeom prst="rect">
            <a:avLst/>
          </a:prstGeom>
          <a:solidFill>
            <a:srgbClr val="92B216"/>
          </a:solidFill>
          <a:ln w="12700">
            <a:solidFill>
              <a:srgbClr val="92B216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32" name="STG1_40"/>
          <p:cNvSpPr txBox="1"/>
          <p:nvPr/>
        </p:nvSpPr>
        <p:spPr>
          <a:xfrm>
            <a:off x="2450592" y="1947672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gateway + Kuadrant</a:t>
            </a:r>
            <a:endParaRPr lang="en-US" sz="950" dirty="0"/>
          </a:p>
          <a:p>
            <a:pPr marL="0" indent="0">
              <a:buNone/>
            </a:pPr>
            <a:r>
              <a:rPr lang="en-US" sz="85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authN, authZ, rate limits</a:t>
            </a:r>
            <a:endParaRPr lang="en-US" sz="950" dirty="0"/>
          </a:p>
        </p:txBody>
      </p:sp>
      <p:sp>
        <p:nvSpPr>
          <p:cNvPr id="33" name="STG1_41"/>
          <p:cNvSpPr/>
          <p:nvPr/>
        </p:nvSpPr>
        <p:spPr>
          <a:xfrm>
            <a:off x="2304288" y="2432304"/>
            <a:ext cx="2286000" cy="457200"/>
          </a:xfrm>
          <a:prstGeom prst="rect">
            <a:avLst/>
          </a:prstGeom>
          <a:solidFill>
            <a:srgbClr val="E9F0CD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34" name="STG1_42"/>
          <p:cNvSpPr/>
          <p:nvPr/>
        </p:nvSpPr>
        <p:spPr>
          <a:xfrm>
            <a:off x="2304288" y="2432304"/>
            <a:ext cx="64008" cy="457200"/>
          </a:xfrm>
          <a:prstGeom prst="rect">
            <a:avLst/>
          </a:prstGeom>
          <a:solidFill>
            <a:srgbClr val="92B216"/>
          </a:solidFill>
          <a:ln w="12700">
            <a:solidFill>
              <a:srgbClr val="92B216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35" name="STG1_43"/>
          <p:cNvSpPr txBox="1"/>
          <p:nvPr/>
        </p:nvSpPr>
        <p:spPr>
          <a:xfrm>
            <a:off x="2450592" y="2478024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 per customer / app</a:t>
            </a:r>
            <a:endParaRPr lang="en-US" sz="950" dirty="0"/>
          </a:p>
          <a:p>
            <a:pPr marL="0" indent="0">
              <a:buNone/>
            </a:pPr>
            <a:r>
              <a:rPr lang="en-US" sz="85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limits · API keys</a:t>
            </a:r>
            <a:endParaRPr lang="en-US" sz="950" dirty="0"/>
          </a:p>
        </p:txBody>
      </p:sp>
      <p:sp>
        <p:nvSpPr>
          <p:cNvPr id="36" name="STG2_44"/>
          <p:cNvSpPr/>
          <p:nvPr/>
        </p:nvSpPr>
        <p:spPr>
          <a:xfrm>
            <a:off x="4983480" y="1645920"/>
            <a:ext cx="1691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2B216"/>
            </a:solidFill>
            <a:prstDash val="dash"/>
          </a:ln>
        </p:spPr>
        <p:txBody>
          <a:bodyPr/>
          <a:lstStyle/>
          <a:p>
            <a:endParaRPr lang="en-AT"/>
          </a:p>
        </p:txBody>
      </p:sp>
      <p:sp>
        <p:nvSpPr>
          <p:cNvPr id="37" name="STG2_45"/>
          <p:cNvSpPr txBox="1"/>
          <p:nvPr/>
        </p:nvSpPr>
        <p:spPr>
          <a:xfrm>
            <a:off x="5074920" y="168249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95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</a:t>
            </a:r>
            <a:endParaRPr lang="en-US" sz="900" dirty="0"/>
          </a:p>
        </p:txBody>
      </p:sp>
      <p:sp>
        <p:nvSpPr>
          <p:cNvPr id="38" name="STG2_46"/>
          <p:cNvSpPr/>
          <p:nvPr/>
        </p:nvSpPr>
        <p:spPr>
          <a:xfrm>
            <a:off x="5093208" y="1901952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39" name="STG2_47"/>
          <p:cNvSpPr/>
          <p:nvPr/>
        </p:nvSpPr>
        <p:spPr>
          <a:xfrm>
            <a:off x="5093208" y="1901952"/>
            <a:ext cx="64008" cy="502920"/>
          </a:xfrm>
          <a:prstGeom prst="rect">
            <a:avLst/>
          </a:prstGeom>
          <a:solidFill>
            <a:srgbClr val="6A9519"/>
          </a:solidFill>
          <a:ln w="12700">
            <a:solidFill>
              <a:srgbClr val="6A9519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40" name="STG2_48"/>
          <p:cNvSpPr txBox="1"/>
          <p:nvPr/>
        </p:nvSpPr>
        <p:spPr>
          <a:xfrm>
            <a:off x="5239512" y="1947672"/>
            <a:ext cx="12435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llm-d scheduler</a:t>
            </a:r>
            <a:endParaRPr lang="en-US" sz="950" dirty="0"/>
          </a:p>
          <a:p>
            <a:pPr marL="0" indent="0">
              <a:buNone/>
            </a:pPr>
            <a:r>
              <a:rPr lang="en-US" sz="85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KV-cache-aware routing</a:t>
            </a:r>
            <a:endParaRPr lang="en-US" sz="950" dirty="0"/>
          </a:p>
        </p:txBody>
      </p:sp>
      <p:sp>
        <p:nvSpPr>
          <p:cNvPr id="41" name="STG2_49"/>
          <p:cNvSpPr/>
          <p:nvPr/>
        </p:nvSpPr>
        <p:spPr>
          <a:xfrm>
            <a:off x="5093208" y="2587752"/>
            <a:ext cx="1463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42" name="STG2_50"/>
          <p:cNvSpPr/>
          <p:nvPr/>
        </p:nvSpPr>
        <p:spPr>
          <a:xfrm>
            <a:off x="5093208" y="2587752"/>
            <a:ext cx="64008" cy="457200"/>
          </a:xfrm>
          <a:prstGeom prst="rect">
            <a:avLst/>
          </a:prstGeom>
          <a:solidFill>
            <a:srgbClr val="6A9519"/>
          </a:solidFill>
          <a:ln w="12700">
            <a:solidFill>
              <a:srgbClr val="6A9519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43" name="STG2_51"/>
          <p:cNvSpPr txBox="1"/>
          <p:nvPr/>
        </p:nvSpPr>
        <p:spPr>
          <a:xfrm>
            <a:off x="5239512" y="2633472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models</a:t>
            </a:r>
            <a:endParaRPr lang="en-US" sz="950" dirty="0"/>
          </a:p>
          <a:p>
            <a:pPr marL="0" indent="0">
              <a:buNone/>
            </a:pPr>
            <a:r>
              <a:rPr lang="en-US" sz="85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replicas</a:t>
            </a:r>
            <a:endParaRPr lang="en-US" sz="950" dirty="0"/>
          </a:p>
        </p:txBody>
      </p:sp>
      <p:sp>
        <p:nvSpPr>
          <p:cNvPr id="44" name="STG2_52"/>
          <p:cNvSpPr/>
          <p:nvPr/>
        </p:nvSpPr>
        <p:spPr>
          <a:xfrm>
            <a:off x="5824728" y="2404872"/>
            <a:ext cx="0" cy="182880"/>
          </a:xfrm>
          <a:prstGeom prst="line">
            <a:avLst/>
          </a:prstGeom>
          <a:noFill/>
          <a:ln w="15875">
            <a:solidFill>
              <a:srgbClr val="575757"/>
            </a:solidFill>
            <a:prstDash val="solid"/>
            <a:tailEnd type="triangle"/>
          </a:ln>
        </p:spPr>
        <p:txBody>
          <a:bodyPr/>
          <a:lstStyle/>
          <a:p>
            <a:endParaRPr lang="en-AT"/>
          </a:p>
        </p:txBody>
      </p:sp>
      <p:sp>
        <p:nvSpPr>
          <p:cNvPr id="45" name="STG2_53"/>
          <p:cNvSpPr txBox="1"/>
          <p:nvPr/>
        </p:nvSpPr>
        <p:spPr>
          <a:xfrm>
            <a:off x="5093208" y="30906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only via gateway</a:t>
            </a:r>
            <a:endParaRPr lang="en-US" sz="800" dirty="0"/>
          </a:p>
        </p:txBody>
      </p:sp>
      <p:sp>
        <p:nvSpPr>
          <p:cNvPr id="46" name="STG2_54"/>
          <p:cNvSpPr/>
          <p:nvPr/>
        </p:nvSpPr>
        <p:spPr>
          <a:xfrm>
            <a:off x="4709160" y="2404872"/>
            <a:ext cx="274320" cy="0"/>
          </a:xfrm>
          <a:prstGeom prst="line">
            <a:avLst/>
          </a:prstGeom>
          <a:noFill/>
          <a:ln w="22225">
            <a:solidFill>
              <a:srgbClr val="575757"/>
            </a:solidFill>
            <a:prstDash val="solid"/>
            <a:tailEnd type="triangle"/>
          </a:ln>
        </p:spPr>
        <p:txBody>
          <a:bodyPr/>
          <a:lstStyle/>
          <a:p>
            <a:endParaRPr lang="en-AT"/>
          </a:p>
        </p:txBody>
      </p:sp>
      <p:sp>
        <p:nvSpPr>
          <p:cNvPr id="47" name="STG3_55"/>
          <p:cNvSpPr/>
          <p:nvPr/>
        </p:nvSpPr>
        <p:spPr>
          <a:xfrm>
            <a:off x="2304288" y="2962656"/>
            <a:ext cx="2286000" cy="384048"/>
          </a:xfrm>
          <a:prstGeom prst="rect">
            <a:avLst/>
          </a:prstGeom>
          <a:solidFill>
            <a:srgbClr val="E9F0CD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48" name="STG3_56"/>
          <p:cNvSpPr/>
          <p:nvPr/>
        </p:nvSpPr>
        <p:spPr>
          <a:xfrm>
            <a:off x="2304288" y="2962656"/>
            <a:ext cx="64008" cy="384048"/>
          </a:xfrm>
          <a:prstGeom prst="rect">
            <a:avLst/>
          </a:prstGeom>
          <a:solidFill>
            <a:srgbClr val="F7A70B"/>
          </a:solidFill>
          <a:ln w="12700">
            <a:solidFill>
              <a:srgbClr val="F7A70B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49" name="STG3_57"/>
          <p:cNvSpPr txBox="1"/>
          <p:nvPr/>
        </p:nvSpPr>
        <p:spPr>
          <a:xfrm>
            <a:off x="2450592" y="300837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 Guardrails</a:t>
            </a:r>
            <a:endParaRPr lang="en-US" sz="950" dirty="0"/>
          </a:p>
          <a:p>
            <a:pPr marL="0" indent="0">
              <a:buNone/>
            </a:pPr>
            <a:r>
              <a:rPr lang="en-US" sz="85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harmful content · jailbreak · PII</a:t>
            </a:r>
            <a:endParaRPr lang="en-US" sz="950" dirty="0"/>
          </a:p>
        </p:txBody>
      </p:sp>
      <p:sp>
        <p:nvSpPr>
          <p:cNvPr id="50" name="STG4_58"/>
          <p:cNvSpPr/>
          <p:nvPr/>
        </p:nvSpPr>
        <p:spPr>
          <a:xfrm>
            <a:off x="1920240" y="2194560"/>
            <a:ext cx="182880" cy="0"/>
          </a:xfrm>
          <a:prstGeom prst="line">
            <a:avLst/>
          </a:prstGeom>
          <a:noFill/>
          <a:ln w="15875">
            <a:solidFill>
              <a:srgbClr val="F7A70B"/>
            </a:solidFill>
            <a:prstDash val="dash"/>
          </a:ln>
        </p:spPr>
        <p:txBody>
          <a:bodyPr/>
          <a:lstStyle/>
          <a:p>
            <a:endParaRPr lang="en-AT"/>
          </a:p>
        </p:txBody>
      </p:sp>
      <p:sp>
        <p:nvSpPr>
          <p:cNvPr id="51" name="STG4_59"/>
          <p:cNvSpPr/>
          <p:nvPr/>
        </p:nvSpPr>
        <p:spPr>
          <a:xfrm>
            <a:off x="1920240" y="2724912"/>
            <a:ext cx="182880" cy="0"/>
          </a:xfrm>
          <a:prstGeom prst="line">
            <a:avLst/>
          </a:prstGeom>
          <a:noFill/>
          <a:ln w="15875">
            <a:solidFill>
              <a:srgbClr val="F7A70B"/>
            </a:solidFill>
            <a:prstDash val="dash"/>
          </a:ln>
        </p:spPr>
        <p:txBody>
          <a:bodyPr/>
          <a:lstStyle/>
          <a:p>
            <a:endParaRPr lang="en-AT"/>
          </a:p>
        </p:txBody>
      </p:sp>
      <p:sp>
        <p:nvSpPr>
          <p:cNvPr id="52" name="STG4_60"/>
          <p:cNvSpPr/>
          <p:nvPr/>
        </p:nvSpPr>
        <p:spPr>
          <a:xfrm>
            <a:off x="1920240" y="3255264"/>
            <a:ext cx="182880" cy="0"/>
          </a:xfrm>
          <a:prstGeom prst="line">
            <a:avLst/>
          </a:prstGeom>
          <a:noFill/>
          <a:ln w="15875">
            <a:solidFill>
              <a:srgbClr val="F7A70B"/>
            </a:solidFill>
            <a:prstDash val="dash"/>
          </a:ln>
        </p:spPr>
        <p:txBody>
          <a:bodyPr/>
          <a:lstStyle/>
          <a:p>
            <a:endParaRPr lang="en-AT"/>
          </a:p>
        </p:txBody>
      </p:sp>
      <p:sp>
        <p:nvSpPr>
          <p:cNvPr id="53" name="STG4_61"/>
          <p:cNvSpPr/>
          <p:nvPr/>
        </p:nvSpPr>
        <p:spPr>
          <a:xfrm>
            <a:off x="1920240" y="3785616"/>
            <a:ext cx="182880" cy="0"/>
          </a:xfrm>
          <a:prstGeom prst="line">
            <a:avLst/>
          </a:prstGeom>
          <a:noFill/>
          <a:ln w="15875">
            <a:solidFill>
              <a:srgbClr val="F7A70B"/>
            </a:solidFill>
            <a:prstDash val="dash"/>
          </a:ln>
        </p:spPr>
        <p:txBody>
          <a:bodyPr/>
          <a:lstStyle/>
          <a:p>
            <a:endParaRPr lang="en-AT"/>
          </a:p>
        </p:txBody>
      </p:sp>
      <p:sp>
        <p:nvSpPr>
          <p:cNvPr id="54" name="STG4_62"/>
          <p:cNvSpPr/>
          <p:nvPr/>
        </p:nvSpPr>
        <p:spPr>
          <a:xfrm>
            <a:off x="2103120" y="2194560"/>
            <a:ext cx="0" cy="1792224"/>
          </a:xfrm>
          <a:prstGeom prst="line">
            <a:avLst/>
          </a:prstGeom>
          <a:noFill/>
          <a:ln w="15875">
            <a:solidFill>
              <a:srgbClr val="F7A70B"/>
            </a:solidFill>
            <a:prstDash val="dash"/>
          </a:ln>
        </p:spPr>
        <p:txBody>
          <a:bodyPr/>
          <a:lstStyle/>
          <a:p>
            <a:endParaRPr lang="en-AT"/>
          </a:p>
        </p:txBody>
      </p:sp>
      <p:sp>
        <p:nvSpPr>
          <p:cNvPr id="55" name="STG4_63"/>
          <p:cNvSpPr/>
          <p:nvPr/>
        </p:nvSpPr>
        <p:spPr>
          <a:xfrm>
            <a:off x="2103120" y="3986784"/>
            <a:ext cx="201168" cy="0"/>
          </a:xfrm>
          <a:prstGeom prst="line">
            <a:avLst/>
          </a:prstGeom>
          <a:noFill/>
          <a:ln w="15875">
            <a:solidFill>
              <a:srgbClr val="F7A70B"/>
            </a:solidFill>
            <a:prstDash val="dash"/>
            <a:tailEnd type="triangle"/>
          </a:ln>
        </p:spPr>
        <p:txBody>
          <a:bodyPr/>
          <a:lstStyle/>
          <a:p>
            <a:endParaRPr lang="en-AT"/>
          </a:p>
        </p:txBody>
      </p:sp>
      <p:sp>
        <p:nvSpPr>
          <p:cNvPr id="56" name="STG4_64"/>
          <p:cNvSpPr/>
          <p:nvPr/>
        </p:nvSpPr>
        <p:spPr>
          <a:xfrm>
            <a:off x="2194560" y="3547872"/>
            <a:ext cx="6492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7A70B"/>
            </a:solidFill>
            <a:prstDash val="dash"/>
          </a:ln>
        </p:spPr>
        <p:txBody>
          <a:bodyPr/>
          <a:lstStyle/>
          <a:p>
            <a:endParaRPr lang="en-AT"/>
          </a:p>
        </p:txBody>
      </p:sp>
      <p:sp>
        <p:nvSpPr>
          <p:cNvPr id="57" name="STG4_65"/>
          <p:cNvSpPr txBox="1"/>
          <p:nvPr/>
        </p:nvSpPr>
        <p:spPr>
          <a:xfrm>
            <a:off x="2286000" y="3584448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07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sandbox · TP · isolated namespace, no production data</a:t>
            </a:r>
            <a:endParaRPr lang="en-US" sz="900" dirty="0"/>
          </a:p>
        </p:txBody>
      </p:sp>
      <p:sp>
        <p:nvSpPr>
          <p:cNvPr id="58" name="STG4_66"/>
          <p:cNvSpPr/>
          <p:nvPr/>
        </p:nvSpPr>
        <p:spPr>
          <a:xfrm>
            <a:off x="2304288" y="3785616"/>
            <a:ext cx="2057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59" name="STG4_67"/>
          <p:cNvSpPr/>
          <p:nvPr/>
        </p:nvSpPr>
        <p:spPr>
          <a:xfrm>
            <a:off x="2304288" y="3785616"/>
            <a:ext cx="64008" cy="411480"/>
          </a:xfrm>
          <a:prstGeom prst="rect">
            <a:avLst/>
          </a:prstGeom>
          <a:solidFill>
            <a:srgbClr val="F7A70B"/>
          </a:solidFill>
          <a:ln w="12700">
            <a:solidFill>
              <a:srgbClr val="F7A70B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60" name="STG4_68"/>
          <p:cNvSpPr txBox="1"/>
          <p:nvPr/>
        </p:nvSpPr>
        <p:spPr>
          <a:xfrm>
            <a:off x="2450592" y="3831336"/>
            <a:ext cx="18379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gateway (TP)</a:t>
            </a:r>
            <a:endParaRPr lang="en-US" sz="900" dirty="0"/>
          </a:p>
          <a:p>
            <a:pPr marL="0" indent="0">
              <a:buNone/>
            </a:pPr>
            <a:r>
              <a:rPr lang="en-US" sz="75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 · tool filter by identity · token exchange</a:t>
            </a:r>
            <a:endParaRPr lang="en-US" sz="900" dirty="0"/>
          </a:p>
        </p:txBody>
      </p:sp>
      <p:sp>
        <p:nvSpPr>
          <p:cNvPr id="61" name="STG4_69"/>
          <p:cNvSpPr/>
          <p:nvPr/>
        </p:nvSpPr>
        <p:spPr>
          <a:xfrm>
            <a:off x="4498848" y="3785616"/>
            <a:ext cx="2057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62" name="STG4_70"/>
          <p:cNvSpPr/>
          <p:nvPr/>
        </p:nvSpPr>
        <p:spPr>
          <a:xfrm>
            <a:off x="4498848" y="3785616"/>
            <a:ext cx="64008" cy="411480"/>
          </a:xfrm>
          <a:prstGeom prst="rect">
            <a:avLst/>
          </a:prstGeom>
          <a:solidFill>
            <a:srgbClr val="F7A70B"/>
          </a:solidFill>
          <a:ln w="12700">
            <a:solidFill>
              <a:srgbClr val="F7A70B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63" name="STG4_71"/>
          <p:cNvSpPr txBox="1"/>
          <p:nvPr/>
        </p:nvSpPr>
        <p:spPr>
          <a:xfrm>
            <a:off x="4645152" y="3831336"/>
            <a:ext cx="18379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test servers</a:t>
            </a:r>
            <a:endParaRPr lang="en-US" sz="900" dirty="0"/>
          </a:p>
          <a:p>
            <a:pPr marL="0" indent="0">
              <a:buNone/>
            </a:pPr>
            <a:r>
              <a:rPr lang="en-US" sz="75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production data</a:t>
            </a:r>
            <a:endParaRPr lang="en-US" sz="900" dirty="0"/>
          </a:p>
        </p:txBody>
      </p:sp>
      <p:sp>
        <p:nvSpPr>
          <p:cNvPr id="64" name="STG4_72"/>
          <p:cNvSpPr/>
          <p:nvPr/>
        </p:nvSpPr>
        <p:spPr>
          <a:xfrm>
            <a:off x="6693408" y="3785616"/>
            <a:ext cx="188366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65" name="STG4_73"/>
          <p:cNvSpPr/>
          <p:nvPr/>
        </p:nvSpPr>
        <p:spPr>
          <a:xfrm>
            <a:off x="6693408" y="3785616"/>
            <a:ext cx="64008" cy="411480"/>
          </a:xfrm>
          <a:prstGeom prst="rect">
            <a:avLst/>
          </a:prstGeom>
          <a:solidFill>
            <a:srgbClr val="F7A70B"/>
          </a:solidFill>
          <a:ln w="12700">
            <a:solidFill>
              <a:srgbClr val="F7A70B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66" name="STG4_74"/>
          <p:cNvSpPr txBox="1"/>
          <p:nvPr/>
        </p:nvSpPr>
        <p:spPr>
          <a:xfrm>
            <a:off x="6839712" y="3831336"/>
            <a:ext cx="16642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Lifecycle Operator</a:t>
            </a:r>
            <a:endParaRPr lang="en-US" sz="900" dirty="0"/>
          </a:p>
          <a:p>
            <a:pPr marL="0" indent="0">
              <a:buNone/>
            </a:pPr>
            <a:r>
              <a:rPr lang="en-US" sz="75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· deploys servers</a:t>
            </a:r>
            <a:endParaRPr lang="en-US" sz="900" dirty="0"/>
          </a:p>
        </p:txBody>
      </p:sp>
      <p:sp>
        <p:nvSpPr>
          <p:cNvPr id="67" name="STG4_75"/>
          <p:cNvSpPr/>
          <p:nvPr/>
        </p:nvSpPr>
        <p:spPr>
          <a:xfrm>
            <a:off x="4361688" y="3991356"/>
            <a:ext cx="137160" cy="0"/>
          </a:xfrm>
          <a:prstGeom prst="line">
            <a:avLst/>
          </a:prstGeom>
          <a:noFill/>
          <a:ln w="15875">
            <a:solidFill>
              <a:srgbClr val="ABABAB"/>
            </a:solidFill>
            <a:prstDash val="solid"/>
            <a:tailEnd type="triangle"/>
          </a:ln>
        </p:spPr>
        <p:txBody>
          <a:bodyPr/>
          <a:lstStyle/>
          <a:p>
            <a:endParaRPr lang="en-AT"/>
          </a:p>
        </p:txBody>
      </p:sp>
      <p:sp>
        <p:nvSpPr>
          <p:cNvPr id="68" name="STG4_76"/>
          <p:cNvSpPr/>
          <p:nvPr/>
        </p:nvSpPr>
        <p:spPr>
          <a:xfrm flipH="1">
            <a:off x="6556248" y="3991356"/>
            <a:ext cx="137160" cy="0"/>
          </a:xfrm>
          <a:prstGeom prst="line">
            <a:avLst/>
          </a:prstGeom>
          <a:noFill/>
          <a:ln w="15875">
            <a:solidFill>
              <a:srgbClr val="ABABAB"/>
            </a:solidFill>
            <a:prstDash val="solid"/>
            <a:tailEnd type="triangle"/>
          </a:ln>
        </p:spPr>
        <p:txBody>
          <a:bodyPr/>
          <a:lstStyle/>
          <a:p>
            <a:endParaRPr lang="en-AT"/>
          </a:p>
        </p:txBody>
      </p:sp>
      <p:sp>
        <p:nvSpPr>
          <p:cNvPr id="69" name="STG5_77"/>
          <p:cNvSpPr/>
          <p:nvPr/>
        </p:nvSpPr>
        <p:spPr>
          <a:xfrm flipH="1">
            <a:off x="365760" y="2121408"/>
            <a:ext cx="91440" cy="0"/>
          </a:xfrm>
          <a:prstGeom prst="line">
            <a:avLst/>
          </a:prstGeom>
          <a:noFill/>
          <a:ln w="15875">
            <a:solidFill>
              <a:srgbClr val="86C2EB"/>
            </a:solidFill>
            <a:prstDash val="sysDot"/>
          </a:ln>
        </p:spPr>
        <p:txBody>
          <a:bodyPr/>
          <a:lstStyle/>
          <a:p>
            <a:endParaRPr lang="en-AT"/>
          </a:p>
        </p:txBody>
      </p:sp>
      <p:sp>
        <p:nvSpPr>
          <p:cNvPr id="70" name="STG5_78"/>
          <p:cNvSpPr/>
          <p:nvPr/>
        </p:nvSpPr>
        <p:spPr>
          <a:xfrm flipH="1">
            <a:off x="365760" y="2651760"/>
            <a:ext cx="91440" cy="0"/>
          </a:xfrm>
          <a:prstGeom prst="line">
            <a:avLst/>
          </a:prstGeom>
          <a:noFill/>
          <a:ln w="15875">
            <a:solidFill>
              <a:srgbClr val="86C2EB"/>
            </a:solidFill>
            <a:prstDash val="sysDot"/>
          </a:ln>
        </p:spPr>
        <p:txBody>
          <a:bodyPr/>
          <a:lstStyle/>
          <a:p>
            <a:endParaRPr lang="en-AT"/>
          </a:p>
        </p:txBody>
      </p:sp>
      <p:sp>
        <p:nvSpPr>
          <p:cNvPr id="71" name="STG5_79"/>
          <p:cNvSpPr/>
          <p:nvPr/>
        </p:nvSpPr>
        <p:spPr>
          <a:xfrm flipH="1">
            <a:off x="365760" y="3182112"/>
            <a:ext cx="91440" cy="0"/>
          </a:xfrm>
          <a:prstGeom prst="line">
            <a:avLst/>
          </a:prstGeom>
          <a:noFill/>
          <a:ln w="15875">
            <a:solidFill>
              <a:srgbClr val="86C2EB"/>
            </a:solidFill>
            <a:prstDash val="sysDot"/>
          </a:ln>
        </p:spPr>
        <p:txBody>
          <a:bodyPr/>
          <a:lstStyle/>
          <a:p>
            <a:endParaRPr lang="en-AT"/>
          </a:p>
        </p:txBody>
      </p:sp>
      <p:sp>
        <p:nvSpPr>
          <p:cNvPr id="72" name="STG5_80"/>
          <p:cNvSpPr/>
          <p:nvPr/>
        </p:nvSpPr>
        <p:spPr>
          <a:xfrm flipH="1">
            <a:off x="365760" y="3712464"/>
            <a:ext cx="91440" cy="0"/>
          </a:xfrm>
          <a:prstGeom prst="line">
            <a:avLst/>
          </a:prstGeom>
          <a:noFill/>
          <a:ln w="15875">
            <a:solidFill>
              <a:srgbClr val="86C2EB"/>
            </a:solidFill>
            <a:prstDash val="sysDot"/>
          </a:ln>
        </p:spPr>
        <p:txBody>
          <a:bodyPr/>
          <a:lstStyle/>
          <a:p>
            <a:endParaRPr lang="en-AT"/>
          </a:p>
        </p:txBody>
      </p:sp>
      <p:sp>
        <p:nvSpPr>
          <p:cNvPr id="73" name="STG5_81"/>
          <p:cNvSpPr/>
          <p:nvPr/>
        </p:nvSpPr>
        <p:spPr>
          <a:xfrm flipV="1">
            <a:off x="365760" y="1554480"/>
            <a:ext cx="0" cy="2157984"/>
          </a:xfrm>
          <a:prstGeom prst="line">
            <a:avLst/>
          </a:prstGeom>
          <a:noFill/>
          <a:ln w="15875">
            <a:solidFill>
              <a:srgbClr val="86C2EB"/>
            </a:solidFill>
            <a:prstDash val="sysDot"/>
          </a:ln>
        </p:spPr>
        <p:txBody>
          <a:bodyPr/>
          <a:lstStyle/>
          <a:p>
            <a:endParaRPr lang="en-AT"/>
          </a:p>
        </p:txBody>
      </p:sp>
      <p:sp>
        <p:nvSpPr>
          <p:cNvPr id="74" name="STG5_82"/>
          <p:cNvSpPr/>
          <p:nvPr/>
        </p:nvSpPr>
        <p:spPr>
          <a:xfrm>
            <a:off x="365760" y="1554480"/>
            <a:ext cx="7452360" cy="0"/>
          </a:xfrm>
          <a:prstGeom prst="line">
            <a:avLst/>
          </a:prstGeom>
          <a:noFill/>
          <a:ln w="15875">
            <a:solidFill>
              <a:srgbClr val="86C2EB"/>
            </a:solidFill>
            <a:prstDash val="sysDot"/>
          </a:ln>
        </p:spPr>
        <p:txBody>
          <a:bodyPr/>
          <a:lstStyle/>
          <a:p>
            <a:endParaRPr lang="en-AT"/>
          </a:p>
        </p:txBody>
      </p:sp>
      <p:sp>
        <p:nvSpPr>
          <p:cNvPr id="75" name="STG5_83"/>
          <p:cNvSpPr/>
          <p:nvPr/>
        </p:nvSpPr>
        <p:spPr>
          <a:xfrm>
            <a:off x="7818120" y="1554480"/>
            <a:ext cx="0" cy="91440"/>
          </a:xfrm>
          <a:prstGeom prst="line">
            <a:avLst/>
          </a:prstGeom>
          <a:noFill/>
          <a:ln w="15875">
            <a:solidFill>
              <a:srgbClr val="86C2EB"/>
            </a:solidFill>
            <a:prstDash val="sysDot"/>
            <a:tailEnd type="triangle"/>
          </a:ln>
        </p:spPr>
        <p:txBody>
          <a:bodyPr/>
          <a:lstStyle/>
          <a:p>
            <a:endParaRPr lang="en-AT"/>
          </a:p>
        </p:txBody>
      </p:sp>
      <p:sp>
        <p:nvSpPr>
          <p:cNvPr id="76" name="STG5_84"/>
          <p:cNvSpPr/>
          <p:nvPr/>
        </p:nvSpPr>
        <p:spPr>
          <a:xfrm>
            <a:off x="6949440" y="1645920"/>
            <a:ext cx="1737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86C2EB"/>
            </a:solidFill>
            <a:prstDash val="dash"/>
          </a:ln>
        </p:spPr>
        <p:txBody>
          <a:bodyPr/>
          <a:lstStyle/>
          <a:p>
            <a:endParaRPr lang="en-AT"/>
          </a:p>
        </p:txBody>
      </p:sp>
      <p:sp>
        <p:nvSpPr>
          <p:cNvPr id="77" name="STG5_85"/>
          <p:cNvSpPr txBox="1"/>
          <p:nvPr/>
        </p:nvSpPr>
        <p:spPr>
          <a:xfrm>
            <a:off x="7040880" y="168249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95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← OTel spans</a:t>
            </a:r>
            <a:endParaRPr lang="en-US" sz="900" dirty="0"/>
          </a:p>
        </p:txBody>
      </p:sp>
      <p:sp>
        <p:nvSpPr>
          <p:cNvPr id="78" name="STG5_86"/>
          <p:cNvSpPr/>
          <p:nvPr/>
        </p:nvSpPr>
        <p:spPr>
          <a:xfrm>
            <a:off x="7059168" y="1901952"/>
            <a:ext cx="151790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79" name="STG5_87"/>
          <p:cNvSpPr/>
          <p:nvPr/>
        </p:nvSpPr>
        <p:spPr>
          <a:xfrm>
            <a:off x="7059168" y="1901952"/>
            <a:ext cx="64008" cy="457200"/>
          </a:xfrm>
          <a:prstGeom prst="rect">
            <a:avLst/>
          </a:prstGeom>
          <a:solidFill>
            <a:srgbClr val="86C2EB"/>
          </a:solidFill>
          <a:ln w="12700">
            <a:solidFill>
              <a:srgbClr val="86C2EB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80" name="STG5_88"/>
          <p:cNvSpPr txBox="1"/>
          <p:nvPr/>
        </p:nvSpPr>
        <p:spPr>
          <a:xfrm>
            <a:off x="7205472" y="194767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Collector</a:t>
            </a:r>
            <a:endParaRPr lang="en-US" sz="950" dirty="0"/>
          </a:p>
          <a:p>
            <a:pPr marL="0" indent="0">
              <a:buNone/>
            </a:pPr>
            <a:r>
              <a:rPr lang="en-US" sz="85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redaction · retention</a:t>
            </a:r>
            <a:endParaRPr lang="en-US" sz="950" dirty="0"/>
          </a:p>
        </p:txBody>
      </p:sp>
      <p:sp>
        <p:nvSpPr>
          <p:cNvPr id="81" name="STG5_89"/>
          <p:cNvSpPr/>
          <p:nvPr/>
        </p:nvSpPr>
        <p:spPr>
          <a:xfrm>
            <a:off x="7059168" y="2432304"/>
            <a:ext cx="151790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82" name="STG5_90"/>
          <p:cNvSpPr/>
          <p:nvPr/>
        </p:nvSpPr>
        <p:spPr>
          <a:xfrm>
            <a:off x="7059168" y="2432304"/>
            <a:ext cx="64008" cy="457200"/>
          </a:xfrm>
          <a:prstGeom prst="rect">
            <a:avLst/>
          </a:prstGeom>
          <a:solidFill>
            <a:srgbClr val="86C2EB"/>
          </a:solidFill>
          <a:ln w="12700">
            <a:solidFill>
              <a:srgbClr val="86C2EB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83" name="STG5_91"/>
          <p:cNvSpPr txBox="1"/>
          <p:nvPr/>
        </p:nvSpPr>
        <p:spPr>
          <a:xfrm>
            <a:off x="7205472" y="2478024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950" dirty="0"/>
          </a:p>
          <a:p>
            <a:pPr marL="0" indent="0">
              <a:buNone/>
            </a:pPr>
            <a:r>
              <a:rPr lang="en-US" sz="85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prompt/response traces</a:t>
            </a:r>
            <a:endParaRPr lang="en-US" sz="950" dirty="0"/>
          </a:p>
        </p:txBody>
      </p:sp>
      <p:sp>
        <p:nvSpPr>
          <p:cNvPr id="84" name="STG5_92"/>
          <p:cNvSpPr/>
          <p:nvPr/>
        </p:nvSpPr>
        <p:spPr>
          <a:xfrm>
            <a:off x="7059168" y="2962656"/>
            <a:ext cx="151790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85" name="STG5_93"/>
          <p:cNvSpPr/>
          <p:nvPr/>
        </p:nvSpPr>
        <p:spPr>
          <a:xfrm>
            <a:off x="7059168" y="2962656"/>
            <a:ext cx="64008" cy="384048"/>
          </a:xfrm>
          <a:prstGeom prst="rect">
            <a:avLst/>
          </a:prstGeom>
          <a:solidFill>
            <a:srgbClr val="86C2EB"/>
          </a:solidFill>
          <a:ln w="12700">
            <a:solidFill>
              <a:srgbClr val="86C2EB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86" name="STG5_94"/>
          <p:cNvSpPr txBox="1"/>
          <p:nvPr/>
        </p:nvSpPr>
        <p:spPr>
          <a:xfrm>
            <a:off x="7205472" y="3008376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950" dirty="0"/>
          </a:p>
          <a:p>
            <a:pPr marL="0" indent="0">
              <a:buNone/>
            </a:pPr>
            <a:r>
              <a:rPr lang="en-US" sz="85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per customer / app</a:t>
            </a:r>
            <a:endParaRPr lang="en-US" sz="950" dirty="0"/>
          </a:p>
        </p:txBody>
      </p:sp>
      <p:sp>
        <p:nvSpPr>
          <p:cNvPr id="87" name="STG5_95"/>
          <p:cNvSpPr/>
          <p:nvPr/>
        </p:nvSpPr>
        <p:spPr>
          <a:xfrm>
            <a:off x="7818120" y="2359152"/>
            <a:ext cx="0" cy="73152"/>
          </a:xfrm>
          <a:prstGeom prst="line">
            <a:avLst/>
          </a:prstGeom>
          <a:noFill/>
          <a:ln w="15875">
            <a:solidFill>
              <a:srgbClr val="575757"/>
            </a:solidFill>
            <a:prstDash val="solid"/>
            <a:tailEnd type="triangle"/>
          </a:ln>
        </p:spPr>
        <p:txBody>
          <a:bodyPr/>
          <a:lstStyle/>
          <a:p>
            <a:endParaRPr lang="en-AT"/>
          </a:p>
        </p:txBody>
      </p:sp>
      <p:sp>
        <p:nvSpPr>
          <p:cNvPr id="88" name="STG5_96"/>
          <p:cNvSpPr/>
          <p:nvPr/>
        </p:nvSpPr>
        <p:spPr>
          <a:xfrm>
            <a:off x="457200" y="4315968"/>
            <a:ext cx="8229600" cy="365760"/>
          </a:xfrm>
          <a:prstGeom prst="roundRect">
            <a:avLst>
              <a:gd name="adj" fmla="val 10000"/>
            </a:avLst>
          </a:prstGeom>
          <a:solidFill>
            <a:srgbClr val="92B216"/>
          </a:solidFill>
          <a:ln w="12700">
            <a:solidFill>
              <a:srgbClr val="92B216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89" name="STG5_97"/>
          <p:cNvSpPr txBox="1"/>
          <p:nvPr/>
        </p:nvSpPr>
        <p:spPr>
          <a:xfrm>
            <a:off x="548640" y="43159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entry point for all internal models: 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quotas, guardrails – MCP tested in a sandbox first.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2B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MATURITY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decides what goes into production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698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vs. Technology Preview in OpenShift AI 3.4.3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097280" cy="0"/>
          </a:xfrm>
          <a:prstGeom prst="line">
            <a:avLst/>
          </a:prstGeom>
          <a:noFill/>
          <a:ln w="38100">
            <a:solidFill>
              <a:srgbClr val="92B216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6" name="Shape 4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7" name="Text 5"/>
          <p:cNvSpPr txBox="1"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48234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5577840" cy="2560320"/>
        </p:xfrm>
        <a:graphic>
          <a:graphicData uri="http://schemas.openxmlformats.org/drawingml/2006/table">
            <a:tbl>
              <a:tblPr/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 · OpenShift / OpenShift 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95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95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we handle 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95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MaaS: subscriptions, token limits, API keys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B2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1, production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LLMInferenceService with llm-d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B2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path (vLLM-only is TP)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vLLM serving runtime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B2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for all internal models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NeMo Guardrails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B2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safety from day 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IdP and groups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B2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for subscriptions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 user workload monitoring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B2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 per customer / app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OpenShift GitOps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B2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config as custom resources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OIDC at the gateway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A7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until GA: cluster IdP and groups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gateway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A7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sandbox only, no production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0" name="Chart 0"/>
          <p:cNvGraphicFramePr/>
          <p:nvPr/>
        </p:nvGraphicFramePr>
        <p:xfrm>
          <a:off x="6263640" y="1600200"/>
          <a:ext cx="242316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6263640" y="37947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of nine are GA – the production path uses only those.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57200" y="4315968"/>
            <a:ext cx="8229600" cy="365760"/>
          </a:xfrm>
          <a:prstGeom prst="roundRect">
            <a:avLst>
              <a:gd name="adj" fmla="val 10000"/>
            </a:avLst>
          </a:prstGeom>
          <a:solidFill>
            <a:srgbClr val="92B216"/>
          </a:solidFill>
          <a:ln w="12700">
            <a:solidFill>
              <a:srgbClr val="92B216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3" name="Text 9"/>
          <p:cNvSpPr txBox="1"/>
          <p:nvPr/>
        </p:nvSpPr>
        <p:spPr>
          <a:xfrm>
            <a:off x="548640" y="43159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runs on GA – 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Preview stays the documented exception.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2B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ROADMAP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phases, paced by GA dates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698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is deliberately narrow – phase 2 follows Red Hat GA dates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097280" cy="0"/>
          </a:xfrm>
          <a:prstGeom prst="line">
            <a:avLst/>
          </a:prstGeom>
          <a:noFill/>
          <a:ln w="38100">
            <a:solidFill>
              <a:srgbClr val="92B216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6" name="Shape 4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7" name="Text 5"/>
          <p:cNvSpPr txBox="1"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48234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4251960" cy="411480"/>
          </a:xfrm>
          <a:prstGeom prst="chevron">
            <a:avLst/>
          </a:prstGeom>
          <a:solidFill>
            <a:srgbClr val="92B216"/>
          </a:solidFill>
          <a:ln>
            <a:solidFill>
              <a:srgbClr val="92B21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Foundation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34840" y="1645920"/>
            <a:ext cx="4251960" cy="411480"/>
          </a:xfrm>
          <a:prstGeom prst="chevron">
            <a:avLst/>
          </a:prstGeom>
          <a:solidFill>
            <a:srgbClr val="6A9519"/>
          </a:solidFill>
          <a:ln>
            <a:solidFill>
              <a:srgbClr val="6A9519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Opening up and agents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19456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MaaS in production, configuration via GitOps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via cluster IdP and groups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 Guardrails, OTel logging to MLflow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NetworkPolicy, admission policy for signed images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sandbox in an isolated namespace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19456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providers with egress proxy and PII masking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gateway: tool filtering by identity, token exchange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OIDC and showback once GA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models (e.g. LAYA) via KServe / OIP v2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source moves from client to gateway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3977640" cy="640080"/>
          </a:xfrm>
          <a:prstGeom prst="rect">
            <a:avLst/>
          </a:prstGeom>
          <a:solidFill>
            <a:srgbClr val="E9F0CD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64008" cy="640080"/>
          </a:xfrm>
          <a:prstGeom prst="rect">
            <a:avLst/>
          </a:prstGeom>
          <a:solidFill>
            <a:srgbClr val="92B216"/>
          </a:solidFill>
          <a:ln w="12700">
            <a:solidFill>
              <a:srgbClr val="92B216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5" name="Text 13"/>
          <p:cNvSpPr txBox="1"/>
          <p:nvPr/>
        </p:nvSpPr>
        <p:spPr>
          <a:xfrm>
            <a:off x="603504" y="3611880"/>
            <a:ext cx="3758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exit criteria</a:t>
            </a:r>
            <a:endParaRPr lang="en-US" sz="1050" dirty="0"/>
          </a:p>
          <a:p>
            <a:pPr marL="0" indent="0">
              <a:buNone/>
            </a:pPr>
            <a:r>
              <a:rPr lang="en-US" sz="85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apps in production · usage per customer / app · no TP in production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3566160"/>
            <a:ext cx="3977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7" name="Shape 15"/>
          <p:cNvSpPr/>
          <p:nvPr/>
        </p:nvSpPr>
        <p:spPr>
          <a:xfrm>
            <a:off x="4709160" y="3566160"/>
            <a:ext cx="64008" cy="640080"/>
          </a:xfrm>
          <a:prstGeom prst="rect">
            <a:avLst/>
          </a:prstGeom>
          <a:solidFill>
            <a:srgbClr val="F7A70B"/>
          </a:solidFill>
          <a:ln w="12700">
            <a:solidFill>
              <a:srgbClr val="F7A70B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8" name="Text 16"/>
          <p:cNvSpPr txBox="1"/>
          <p:nvPr/>
        </p:nvSpPr>
        <p:spPr>
          <a:xfrm>
            <a:off x="4855464" y="3611880"/>
            <a:ext cx="3758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trigger</a:t>
            </a:r>
            <a:endParaRPr lang="en-US" sz="1050" dirty="0"/>
          </a:p>
          <a:p>
            <a:pPr marL="0" indent="0">
              <a:buNone/>
            </a:pPr>
            <a:r>
              <a:rPr lang="en-US" sz="85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Red Hat GA dates for OIDC, showback, providers, MCP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315968"/>
            <a:ext cx="8229600" cy="365760"/>
          </a:xfrm>
          <a:prstGeom prst="roundRect">
            <a:avLst>
              <a:gd name="adj" fmla="val 10000"/>
            </a:avLst>
          </a:prstGeom>
          <a:solidFill>
            <a:srgbClr val="92B216"/>
          </a:solidFill>
          <a:ln w="12700">
            <a:solidFill>
              <a:srgbClr val="92B216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0" name="Text 18"/>
          <p:cNvSpPr txBox="1"/>
          <p:nvPr/>
        </p:nvSpPr>
        <p:spPr>
          <a:xfrm>
            <a:off x="548640" y="43159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dates set the pace – 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calendar.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2B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takeaways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1097280" cy="0"/>
          </a:xfrm>
          <a:prstGeom prst="line">
            <a:avLst/>
          </a:prstGeom>
          <a:noFill/>
          <a:ln w="38100">
            <a:solidFill>
              <a:srgbClr val="92B216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5" name="Shape 3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6" name="Text 4"/>
          <p:cNvSpPr txBox="1"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48234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64008" cy="749808"/>
          </a:xfrm>
          <a:prstGeom prst="rect">
            <a:avLst/>
          </a:prstGeom>
          <a:solidFill>
            <a:srgbClr val="6A9519"/>
          </a:solidFill>
          <a:ln w="12700">
            <a:solidFill>
              <a:srgbClr val="6A9519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0" name="Shape 8"/>
          <p:cNvSpPr/>
          <p:nvPr/>
        </p:nvSpPr>
        <p:spPr>
          <a:xfrm>
            <a:off x="685800" y="1837944"/>
            <a:ext cx="347472" cy="347472"/>
          </a:xfrm>
          <a:prstGeom prst="ellipse">
            <a:avLst/>
          </a:prstGeom>
          <a:solidFill>
            <a:srgbClr val="6A9519"/>
          </a:solidFill>
          <a:ln w="12700">
            <a:solidFill>
              <a:srgbClr val="6A9519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1" name="Text 9"/>
          <p:cNvSpPr txBox="1"/>
          <p:nvPr/>
        </p:nvSpPr>
        <p:spPr>
          <a:xfrm>
            <a:off x="685800" y="1837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1691640"/>
            <a:ext cx="7360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 bridge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temporary gateway costs a migration, double governance and a license – MaaS from day one, one path, fully supported.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4" name="Shape 12"/>
          <p:cNvSpPr/>
          <p:nvPr/>
        </p:nvSpPr>
        <p:spPr>
          <a:xfrm>
            <a:off x="457200" y="2514600"/>
            <a:ext cx="64008" cy="749808"/>
          </a:xfrm>
          <a:prstGeom prst="rect">
            <a:avLst/>
          </a:prstGeom>
          <a:solidFill>
            <a:srgbClr val="92B216"/>
          </a:solidFill>
          <a:ln w="12700">
            <a:solidFill>
              <a:srgbClr val="92B216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5" name="Shape 13"/>
          <p:cNvSpPr/>
          <p:nvPr/>
        </p:nvSpPr>
        <p:spPr>
          <a:xfrm>
            <a:off x="685800" y="2706624"/>
            <a:ext cx="347472" cy="347472"/>
          </a:xfrm>
          <a:prstGeom prst="ellipse">
            <a:avLst/>
          </a:prstGeom>
          <a:solidFill>
            <a:srgbClr val="92B216"/>
          </a:solidFill>
          <a:ln w="12700">
            <a:solidFill>
              <a:srgbClr val="92B216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6" name="Text 14"/>
          <p:cNvSpPr txBox="1"/>
          <p:nvPr/>
        </p:nvSpPr>
        <p:spPr>
          <a:xfrm>
            <a:off x="685800" y="2706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2560320"/>
            <a:ext cx="7360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front door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quotas and guardrails in one place · MCP tested in a sandbox first · traceability via OTel, independent of the source.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64008" cy="749808"/>
          </a:xfrm>
          <a:prstGeom prst="rect">
            <a:avLst/>
          </a:prstGeom>
          <a:solidFill>
            <a:srgbClr val="F7A70B"/>
          </a:solidFill>
          <a:ln w="12700">
            <a:solidFill>
              <a:srgbClr val="F7A70B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0" name="Shape 18"/>
          <p:cNvSpPr/>
          <p:nvPr/>
        </p:nvSpPr>
        <p:spPr>
          <a:xfrm>
            <a:off x="685800" y="3575304"/>
            <a:ext cx="347472" cy="347472"/>
          </a:xfrm>
          <a:prstGeom prst="ellipse">
            <a:avLst/>
          </a:prstGeom>
          <a:solidFill>
            <a:srgbClr val="F7A70B"/>
          </a:solidFill>
          <a:ln w="12700">
            <a:solidFill>
              <a:srgbClr val="F7A70B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1" name="Text 19"/>
          <p:cNvSpPr txBox="1"/>
          <p:nvPr/>
        </p:nvSpPr>
        <p:spPr>
          <a:xfrm>
            <a:off x="685800" y="3575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429000"/>
            <a:ext cx="7360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first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runs on GA. Tech Preview gets a workaround with an expiry date – GA dates drive the roadmap.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315968"/>
            <a:ext cx="8229600" cy="365760"/>
          </a:xfrm>
          <a:prstGeom prst="roundRect">
            <a:avLst>
              <a:gd name="adj" fmla="val 10000"/>
            </a:avLst>
          </a:prstGeom>
          <a:solidFill>
            <a:srgbClr val="92B216"/>
          </a:solidFill>
          <a:ln w="12700">
            <a:solidFill>
              <a:srgbClr val="92B216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4" name="Text 22"/>
          <p:cNvSpPr txBox="1"/>
          <p:nvPr/>
        </p:nvSpPr>
        <p:spPr>
          <a:xfrm>
            <a:off x="548640" y="43159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2B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ARCHITECTURE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architecture in detail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698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Mermaid view from the design documentation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097280" cy="0"/>
          </a:xfrm>
          <a:prstGeom prst="line">
            <a:avLst/>
          </a:prstGeom>
          <a:noFill/>
          <a:ln w="38100">
            <a:solidFill>
              <a:srgbClr val="92B216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6" name="Shape 4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7" name="Text 5"/>
          <p:cNvSpPr txBox="1"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48234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900" dirty="0"/>
          </a:p>
        </p:txBody>
      </p:sp>
      <p:pic>
        <p:nvPicPr>
          <p:cNvPr id="9" name="Image 0" descr="Phase 1 MaaS architecture as Mermaid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6687"/>
            <a:ext cx="8229600" cy="26845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Solid: request path · dotted: telemetry and guardrail calls · orange: observability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1592</Words>
  <Application>Microsoft Macintosh PowerPoint</Application>
  <PresentationFormat>On-screen Show (16:9)</PresentationFormat>
  <Paragraphs>168</Paragraphs>
  <Slides>7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MaaS architecture and autonomous AICoE intake process</dc:title>
  <dc:subject>PptxGenJS Presentation</dc:subject>
  <dc:creator>Alexander Zeiss</dc:creator>
  <cp:lastModifiedBy>Zeiss Alexander</cp:lastModifiedBy>
  <cp:revision>2</cp:revision>
  <dcterms:created xsi:type="dcterms:W3CDTF">2026-10-20T06:03:20Z</dcterms:created>
  <dcterms:modified xsi:type="dcterms:W3CDTF">2026-10-20T06:28:04Z</dcterms:modified>
</cp:coreProperties>
</file>